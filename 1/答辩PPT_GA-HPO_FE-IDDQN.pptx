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总体Makespan(秒)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Sheet1!$A$2:$A$9</c:f>
              <c:strCache>
                <c:ptCount val="8"/>
                <c:pt idx="0">
                  <c:v>FIFO</c:v>
                </c:pt>
                <c:pt idx="1">
                  <c:v>RR</c:v>
                </c:pt>
                <c:pt idx="2">
                  <c:v>SJF</c:v>
                </c:pt>
                <c:pt idx="3">
                  <c:v>EFT</c:v>
                </c:pt>
                <c:pt idx="4">
                  <c:v>GA</c:v>
                </c:pt>
                <c:pt idx="5">
                  <c:v>DQN</c:v>
                </c:pt>
                <c:pt idx="6">
                  <c:v>DDQN</c:v>
                </c:pt>
                <c:pt idx="7">
                  <c:v>FE-IDDQN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23416</c:v>
                </c:pt>
                <c:pt idx="1">
                  <c:v>15053</c:v>
                </c:pt>
                <c:pt idx="2">
                  <c:v>14668</c:v>
                </c:pt>
                <c:pt idx="3">
                  <c:v>14544</c:v>
                </c:pt>
                <c:pt idx="4">
                  <c:v>13842</c:v>
                </c:pt>
                <c:pt idx="5">
                  <c:v>14235</c:v>
                </c:pt>
                <c:pt idx="6">
                  <c:v>13986</c:v>
                </c:pt>
                <c:pt idx="7">
                  <c:v>13182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平均资源利用率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资源利用率(%)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Sheet1!$A$2:$A$9</c:f>
              <c:strCache>
                <c:ptCount val="8"/>
                <c:pt idx="0">
                  <c:v>FIFO</c:v>
                </c:pt>
                <c:pt idx="1">
                  <c:v>RR</c:v>
                </c:pt>
                <c:pt idx="2">
                  <c:v>SJF</c:v>
                </c:pt>
                <c:pt idx="3">
                  <c:v>EFT</c:v>
                </c:pt>
                <c:pt idx="4">
                  <c:v>GA</c:v>
                </c:pt>
                <c:pt idx="5">
                  <c:v>DQN</c:v>
                </c:pt>
                <c:pt idx="6">
                  <c:v>DDQN</c:v>
                </c:pt>
                <c:pt idx="7">
                  <c:v>FE-IDDQN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20.0</c:v>
                </c:pt>
                <c:pt idx="1">
                  <c:v>45.2</c:v>
                </c:pt>
                <c:pt idx="2">
                  <c:v>51.1</c:v>
                </c:pt>
                <c:pt idx="3">
                  <c:v>53.1</c:v>
                </c:pt>
                <c:pt idx="4">
                  <c:v>54.8</c:v>
                </c:pt>
                <c:pt idx="5">
                  <c:v>48.7</c:v>
                </c:pt>
                <c:pt idx="6">
                  <c:v>52.3</c:v>
                </c:pt>
                <c:pt idx="7">
                  <c:v>58.6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负载均衡指数 (LBI)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负载均衡指数</c:v>
                </c:pt>
              </c:strCache>
            </c:strRef>
          </c:tx>
          <c:spPr>
            <a:solidFill>
              <a:srgbClr val="F39C12"/>
            </a:solidFill>
          </c:spPr>
          <c:cat>
            <c:strRef>
              <c:f>Sheet1!$A$2:$A$9</c:f>
              <c:strCache>
                <c:ptCount val="8"/>
                <c:pt idx="0">
                  <c:v>FIFO</c:v>
                </c:pt>
                <c:pt idx="1">
                  <c:v>RR</c:v>
                </c:pt>
                <c:pt idx="2">
                  <c:v>SJF</c:v>
                </c:pt>
                <c:pt idx="3">
                  <c:v>EFT</c:v>
                </c:pt>
                <c:pt idx="4">
                  <c:v>GA</c:v>
                </c:pt>
                <c:pt idx="5">
                  <c:v>DQN</c:v>
                </c:pt>
                <c:pt idx="6">
                  <c:v>DDQN</c:v>
                </c:pt>
                <c:pt idx="7">
                  <c:v>FE-IDDQN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0.21</c:v>
                </c:pt>
                <c:pt idx="1">
                  <c:v>0.85</c:v>
                </c:pt>
                <c:pt idx="2">
                  <c:v>0.78</c:v>
                </c:pt>
                <c:pt idx="3">
                  <c:v>0.76</c:v>
                </c:pt>
                <c:pt idx="4">
                  <c:v>0.79</c:v>
                </c:pt>
                <c:pt idx="5">
                  <c:v>0.72</c:v>
                </c:pt>
                <c:pt idx="6">
                  <c:v>0.75</c:v>
                </c:pt>
                <c:pt idx="7">
                  <c:v>0.87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Makespan优化对比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Makespan(秒)</c:v>
                </c:pt>
              </c:strCache>
            </c:strRef>
          </c:tx>
          <c:spPr>
            <a:solidFill>
              <a:srgbClr val="F39C12"/>
            </a:solidFill>
          </c:spPr>
          <c:cat>
            <c:strRef>
              <c:f>Sheet1!$A$2:$A$5</c:f>
              <c:strCache>
                <c:ptCount val="4"/>
                <c:pt idx="0">
                  <c:v>Manual</c:v>
                </c:pt>
                <c:pt idx="1">
                  <c:v>GA-Only</c:v>
                </c:pt>
                <c:pt idx="2">
                  <c:v>Optuna-Only</c:v>
                </c:pt>
                <c:pt idx="3">
                  <c:v>GA-HPO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14856</c:v>
                </c:pt>
                <c:pt idx="1">
                  <c:v>13978</c:v>
                </c:pt>
                <c:pt idx="2">
                  <c:v>14124</c:v>
                </c:pt>
                <c:pt idx="3">
                  <c:v>13182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去除各组件后Makespan变化 (%↑越大=越重要)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Makespan变化(%)</c:v>
                </c:pt>
              </c:strCache>
            </c:strRef>
          </c:tx>
          <c:spPr>
            <a:solidFill>
              <a:srgbClr val="E74C3C"/>
            </a:solidFill>
          </c:spPr>
          <c:cat>
            <c:strRef>
              <c:f>Sheet1!$A$2:$A$10</c:f>
              <c:strCache>
                <c:ptCount val="9"/>
                <c:pt idx="0">
                  <c:v>完整模型</c:v>
                </c:pt>
                <c:pt idx="1">
                  <c:v>-动作掩码</c:v>
                </c:pt>
                <c:pt idx="2">
                  <c:v>-GA-HPO</c:v>
                </c:pt>
                <c:pt idx="3">
                  <c:v>-交叉注意力</c:v>
                </c:pt>
                <c:pt idx="4">
                  <c:v>-Dueling</c:v>
                </c:pt>
                <c:pt idx="5">
                  <c:v>-PER</c:v>
                </c:pt>
                <c:pt idx="6">
                  <c:v>-SJF预填充</c:v>
                </c:pt>
                <c:pt idx="7">
                  <c:v>-GraphTrans</c:v>
                </c:pt>
                <c:pt idx="8">
                  <c:v>-SJF偏置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13.0</c:v>
                </c:pt>
                <c:pt idx="2">
                  <c:v>12.7</c:v>
                </c:pt>
                <c:pt idx="3">
                  <c:v>10.5</c:v>
                </c:pt>
                <c:pt idx="4">
                  <c:v>8.0</c:v>
                </c:pt>
                <c:pt idx="5">
                  <c:v>5.0</c:v>
                </c:pt>
                <c:pt idx="6">
                  <c:v>4.0</c:v>
                </c:pt>
                <c:pt idx="7">
                  <c:v>3.0</c:v>
                </c:pt>
                <c:pt idx="8">
                  <c:v>2.1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CCDD"/>
                </a:solidFill>
              </a:defRPr>
            </a:pPr>
            <a:r>
              <a:t>硕士学位论文答辩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基于GA-HPO FE-IDDQN的</a:t>
            </a:r>
            <a:br/>
            <a:r>
              <a:t>云工作流调度优化研究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000" b="0">
                <a:solidFill>
                  <a:srgbClr val="2C3E50"/>
                </a:solidFill>
              </a:defRPr>
            </a:pPr>
            <a:r>
              <a:t>答辩人：XXX</a:t>
            </a:r>
          </a:p>
          <a:p>
            <a:pPr algn="ctr">
              <a:spcAft>
                <a:spcPts val="1600"/>
              </a:spcAft>
              <a:defRPr sz="2000" b="0">
                <a:solidFill>
                  <a:srgbClr val="2C3E50"/>
                </a:solidFill>
              </a:defRPr>
            </a:pPr>
            <a:r>
              <a:t>指导教师：XXX 教授</a:t>
            </a:r>
          </a:p>
          <a:p>
            <a:pPr algn="ctr">
              <a:spcAft>
                <a:spcPts val="1600"/>
              </a:spcAft>
              <a:defRPr sz="2000" b="0">
                <a:solidFill>
                  <a:srgbClr val="2C3E50"/>
                </a:solidFill>
              </a:defRPr>
            </a:pPr>
            <a:r>
              <a:t>专    业：计算机技术</a:t>
            </a:r>
          </a:p>
          <a:p>
            <a:pPr algn="ctr">
              <a:spcAft>
                <a:spcPts val="1600"/>
              </a:spcAft>
              <a:defRPr sz="2000" b="0">
                <a:solidFill>
                  <a:srgbClr val="2C3E50"/>
                </a:solidFill>
              </a:defRPr>
            </a:pPr>
            <a:r>
              <a:t>日    期：2026年X月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C6E"/>
                </a:solidFill>
              </a:defRPr>
            </a:pPr>
            <a:r>
              <a:t>汇 报 提 纲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研究背景与意义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777777"/>
                </a:solidFill>
              </a:defRPr>
            </a:pPr>
            <a:r>
              <a:t>云工作流调度挑战、现有方法不足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150876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相关研究工作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777777"/>
                </a:solidFill>
              </a:defRPr>
            </a:pPr>
            <a:r>
              <a:t>DRL调度研究现状、特征工程的必要性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15468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问题建模与特征工程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777777"/>
                </a:solidFill>
              </a:defRPr>
            </a:pPr>
            <a:r>
              <a:t>DAG工作流模型、多维特征体系、RL环境设计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315468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GA-HPO FE-IDDQN算法设计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777777"/>
                </a:solidFill>
              </a:defRPr>
            </a:pPr>
            <a:r>
              <a:t>双流网络、训练机制、超参数优化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80060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实验验证与性能评估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777777"/>
                </a:solidFill>
              </a:defRPr>
            </a:pPr>
            <a:r>
              <a:t>性能对比、消融实验、案例研究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480060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总结与展望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777777"/>
                </a:solidFill>
              </a:defRPr>
            </a:pPr>
            <a:r>
              <a:t>主要贡献、不足与未来方向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一、研究背景与意义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303520" cy="237744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5029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行业背景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云计算环境下工作流调度是核心技术挑战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金融行业DAG工作流复杂度高（最多555个任务）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DolphinScheduler广泛应用于企业级调度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当前调度以启发式为主，缺乏智能优化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303520" cy="237744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078992"/>
            <a:ext cx="50292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核心问题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调度空间大：任务-资源分配组合呈指数增长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资源异构性：Worker节点性能差异显著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依赖约束复杂：DAG拓扑约束限制并行度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多目标冲突：Makespan vs 资源利用率 vs 负载均衡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11064240" cy="18288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730752"/>
            <a:ext cx="10789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研究意义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理论层面：探索DRL在DAG工作流调度中的有效性，提出特征增强与超参数自动优化的技术路线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实践层面：基于金融行业DolphinScheduler生产数据验证，优化监管报送等关键业务流程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一、现有方法的不足与本文定位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25603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3200400" cy="3657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5A5A6"/>
                </a:solidFill>
              </a:defRPr>
            </a:pPr>
            <a:r>
              <a:t>传统启发式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FIFO/SJF/EFT等规则固定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无法适应动态环境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难以全局优化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缺乏对DAG结构的利用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✓ 计算速度快（&lt;0.1ms）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474720" cy="25603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170432"/>
            <a:ext cx="3200400" cy="3657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61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5A5A6"/>
                </a:solidFill>
              </a:defRPr>
            </a:pPr>
            <a:r>
              <a:t>元启发式 (GA/PSO/ACO)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计算开销大（秒级/次）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不适用于在线实时调度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超参数敏感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✓ 全局搜索能力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✓ 可处理组合优化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097280"/>
            <a:ext cx="3474720" cy="25603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39" y="1170432"/>
            <a:ext cx="3200400" cy="3657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261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5A5A6"/>
                </a:solidFill>
              </a:defRPr>
            </a:pPr>
            <a:r>
              <a:t>现有DRL方法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6002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特征工程粗糙，状态表示不充分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超参数高度依赖人工经验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冷启动问题突出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✗ 缺乏对DAG拓扑的显式建模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✓ 端到端学习，在线推理快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11064240" cy="22860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05072"/>
            <a:ext cx="107899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▶ 本文方案：GA-HPO FE-IDDQN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特征增强（16+7维领域特征）+ 双流Dueling网络 + 交叉注意力融合 + Graph Transformer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SJF专家预填充 + PER + 动作掩码 → 训练效率↑  收敛速度↑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GA网络架构搜索 + Optuna训练超参搜索 → 自动化调优，消除人工经验依赖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推理延迟~5ms，满足在线实时调度需求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二、问题建模与特征工程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303520" cy="27432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5029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DAG工作流模型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工作流 W = (T, E, R)：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T = {t₁, t₂, ..., tₙ}  任务集合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E ⊆ T×T  任务间依赖关系（有向无环图边集）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R = {r₁, r₂, ..., rₘ}  异构资源集合（5个Worker节点）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目标：min Makespan = max end(tᵢ) - min start(tᵢ)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303520" cy="27432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078992"/>
            <a:ext cx="5029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多目标优化函数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min F = w₁·Makespan + w₂·(1-Util) + w₃·LoadImbalance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权重配置：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w₁ = 0.5  （Makespan最小化）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w₂ = 0.2  （资源利用率最大化）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w₃ = 0.3  （负载均衡最大化）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约束：所有DAG依赖关系必须满足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064240" cy="21031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096512"/>
            <a:ext cx="107899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879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多维度特征工程体系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任务级特征（16维）：类型编码(1) + 资源需求(2) + 执行统计(4) + DAG结构(4) + 时间(3) + 上下文(2)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资源级特征（7维）：CPU利用率 + 内存利用率 + 任务数 + 平均执行时间 + 可用时间 + 队列长度 + 累计任务数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DAG拓扑信息：邻接矩阵 A ∈ {0,1}ⁿˣⁿ，支持Graph Transformer的注意力掩码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二、强化学习环境设计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474720" cy="27432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32004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状态空间 S（双流表示）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S = (X_task, X_resource, A_dag)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X_task ∈ ℝⁿˣ¹⁶  当前就绪任务的特征矩阵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X_resource ∈ ℝ⁵ˣ⁷  资源节点状态矩阵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A_dag ∈ {0,1}ⁿˣⁿ  DAG邻接矩阵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特征经过Min-Max归一化至[0,1]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05840"/>
            <a:ext cx="3474720" cy="27432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078992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70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动作空间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A = {1, 2, 3, 4, 5}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选择一个Worker节点执行当前任务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动作掩码机制：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屏蔽资源不足的节点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屏蔽故障节点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保证调度可行性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005840"/>
            <a:ext cx="3474720" cy="27432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39" y="1078992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170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奖励函数 R（多目标）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50876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R = -[w₁·MakespanCost + w₂·(1-Util) + w₃·LoadImbalance]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MakespanCost：归一化任务完成时间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Util：当前资源利用率均值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LoadImbalance：节点负载标准差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即时奖励，每步计算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11064240" cy="21031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96512"/>
            <a:ext cx="107899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879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历史数据重放仿真器（HistoricalReplaySimulator）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从DolphinScheduler数据库加载真实工作流实例数据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按DAG拓扑排序逐任务调度，维护5个Worker节点状态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任务执行时间基于历史实际执行时间，保证仿真真实性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支持CONDITIONS和DEPENDENT等特殊任务类型的条件依赖处理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三、GA-HPO FE-IDDQN 算法总体框架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011680" cy="18288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特征工程模块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异构数据→结构化</a:t>
            </a:r>
          </a:p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状态表示（16+7维）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097280"/>
            <a:ext cx="2011680" cy="1828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双流网络模块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任务流+资源流</a:t>
            </a:r>
          </a:p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交叉注意力融合→Q值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097280"/>
            <a:ext cx="2011680" cy="1828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训练机制模块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PER + SJF预填充</a:t>
            </a:r>
          </a:p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ε-贪心 + 动作掩码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097280"/>
            <a:ext cx="2011680" cy="18288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超参数优化模块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GA架构搜索</a:t>
            </a:r>
          </a:p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Optuna训练参数搜索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097280"/>
            <a:ext cx="2011680" cy="18288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奖励计算模块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多目标奖励函数</a:t>
            </a:r>
          </a:p>
          <a:p>
            <a:pPr algn="ctr">
              <a:spcAft>
                <a:spcPts val="360"/>
              </a:spcAft>
              <a:defRPr sz="1200" b="0">
                <a:solidFill>
                  <a:srgbClr val="FFFFFF"/>
                </a:solidFill>
              </a:defRPr>
            </a:pPr>
            <a:r>
              <a:t>Makespan+Util+LBI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91840"/>
            <a:ext cx="5303520" cy="16459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364992"/>
            <a:ext cx="5029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56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离线训练阶段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数据划分（6:2:2分层抽样）→ SJF预填充经验缓冲 → 与仿真环境交互学习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→ PER优先采样 + 双重Q网络更新 → 验证集早停 → 保存最优模型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91840"/>
            <a:ext cx="5303520" cy="16459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364992"/>
            <a:ext cx="5029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56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在线推理阶段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接收实时任务/资源状态 → 特征提取（16+7维）→ 双流网络前向传播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→ 动作掩码过滤 → 贪心选择最优Worker → 输出调度决策（~5ms延迟）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20640"/>
            <a:ext cx="11064240" cy="11887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5193792"/>
            <a:ext cx="107899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852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GA-HPO 两阶段超参数自动优化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第一阶段 GA架构搜索（种群12×10代）：搜索hidden_dim, fusion_dim, num_heads, transformer_layers, dropout, use_gnn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第二阶段 Optuna超参搜索（TPE+50次试验）：搜索lr, gamma, tau, ε_decay, batch_size, buffer_size, PER α/β, gradient_clip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三、双流Dueling网络架构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754880" cy="237744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448056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任务流（Task Stream）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输入：X_task ∈ ℝⁿˣ¹⁶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MLP编码：16→512→256→128 (ReLU+Dropout)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多头自注意力：4 heads, 捕捉任务间关联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可选Graph Transformer：利用DAG邻接矩阵掩码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输出：H_task ∈ ℝⁿˣ¹²⁸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005840"/>
            <a:ext cx="4754880" cy="237744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97880" y="1078992"/>
            <a:ext cx="448056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1704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资源流（Resource Stream）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0876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输入：X_resource ∈ ℝ⁵ˣ⁷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MLP编码：7→512→256→128 (ReLU+Dropout)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多头自注意力：4 heads, 捕捉资源间竞争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输出：H_resource ∈ ℝ⁵ˣ¹²⁸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11064240" cy="25603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730752"/>
            <a:ext cx="1078992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</a:defRPr>
            </a:pPr>
            <a:r>
              <a:t>交叉注意力融合 + Dueling输出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交叉注意力：Q=H_task, K=V=H_resource → 任务表示动态融入资源信息 → F ∈ ℝⁿˣ²⁵⁶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融合层：任务向量⊕资源均值→全局状态表征 → 256维融合特征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Dueling分解：Q(s,a) = V(s) + A(s,a) - mean(A)  分离状态价值与动作优势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动作掩码：将不可行动作的Q值设为-∞ → 保证100%依赖约束满足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三、核心训练机制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474720" cy="25603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32004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① 双重Q网络（Double DQN）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主网络选择动作：a* = argmax Q(s',a;θ)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目标网络评估价值：y = r + γ·Q(s',a*;θ⁻)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解耦选择与评估 → 缓解Q值高估问题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目标网络Polyak软更新：θ⁻ ← τ·θ + (1-τ)·θ⁻, τ=0.005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05840"/>
            <a:ext cx="3474720" cy="25603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078992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70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② 优先经验回放 (PER)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基于SumTree的O(log N)高效采样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采样概率 P(i) ∝ |δᵢ|^α，α=0.6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重要性采样权重 wᵢ = (N·P(i))^(-β)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β从0.4线性增长到1.0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优先学习TD误差大的关键调度经验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005840"/>
            <a:ext cx="3474720" cy="25603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39" y="1078992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170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③ SJF专家经验预填充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冷启动解决方案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用SJF启发式运行工作流生成经验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高优先级填充至经验缓冲区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收敛速度提高46%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  (280→150 episodes)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064240" cy="21031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913632"/>
            <a:ext cx="107899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050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④ SJF偏置ε-贪心探索 + 动作掩码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探索阶段（概率ε）：50%执行SJF启发式动作 + 50%随机探索 → 提高有效经验质量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利用阶段（概率1-ε）：贪心选择Q值最大的动作 → ε从1.0按0.998衰减至0.05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动作掩码：始终保证选择的动作满足资源约束和依赖约束 → DSR=100%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四、实验设置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303520" cy="27432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5029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实验数据集（DolphinScheduler生产数据）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来源：某大型保险公司WhaleScheduler生产环境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工作流实例：~2,400个（成功执行，state=7）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任务实例：~50,000个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依赖关系：~2,000条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Worker节点：5个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数据划分：训练60% / 验证20% / 测试20%（分层抽样）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303520" cy="27432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078992"/>
            <a:ext cx="5029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对比算法（3类9种）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传统启发式：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  FIFO / RoundRobin / SJF / EFT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元启发式：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  GA(种群20,代数50) / PSO(粒子10,迭代30) / ACO(蚂蚁10,迭代20)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深度强化学习：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  DQN / DDQN（隐层[128,64], lr=1e-3）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064240" cy="21031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096512"/>
            <a:ext cx="107899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879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评价指标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① Makespan（完工时间）— 首要优化目标    ② 资源利用率 — 资源有效使用程度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③ 负载均衡指数(LBI) — 工作量分配均匀度    ④ 依赖约束满足率 — 调度正确性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⑤ 推理延迟 — 在线可用性    公平保证：所有算法在相同测试集上评估，10次独立运行取均值±标准差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四、性能对比 — 不同规模工作流Makespan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68580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算法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小型(1-10)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中型(11-30)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大型(31+)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总体平均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FIFO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43,547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16,730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21,093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23,416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RoundRobin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36,272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10,862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5,121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15,053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SJF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42,229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10,900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4,230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14,668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EFT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42,229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10,642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4,230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14,544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GA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38,450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10,235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4,087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13,842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DQN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37,856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10,524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4,345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14,235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DDQN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37,245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10,287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4,198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13,986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FE-IDDQN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35,780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9,876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3,892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13,182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0" y="100584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89120"/>
            <a:ext cx="11064240" cy="18288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4462272"/>
            <a:ext cx="10789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537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关键发现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FE-IDDQN总体Makespan 13,182秒：vs FIFO ↓43.7%，vs EFT ↓9.4%，vs DDQN ↓5.7%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大型工作流优势最显著：FE-IDDQN vs FIFO ↓81.5%，通过端到端RL学习跨步最优策略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小型工作流差异较小：调度空间有限，启发式已可产生较优方案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四、资源利用率与负载均衡对比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05840"/>
          <a:ext cx="530352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005840"/>
          <a:ext cx="530352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06240"/>
            <a:ext cx="11064240" cy="201168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4279392"/>
            <a:ext cx="107899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FE-IDDQN资源利用率58.6%（最高），vs FIFO的20% → 多目标奖励函数引导资源有效使用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FE-IDDQN负载均衡0.87（最高），甚至超过天然均匀分配的RoundRobin(0.85) → 奖励函数中LBI权重0.3的效果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FE-IDDQN是唯一在利用率和均衡两个指标上均排名前列的算法 → 多目标协同优化成功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四、GA-HPO超参数优化效果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6400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配置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Makespan(秒)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利用率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LBI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搜索耗时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Manual（手动调参）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14,856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51.2%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GA-Only（仅架构搜索）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13,978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54.5%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~4h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Optuna-Only（仅超参搜索）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14,124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53.8%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0.79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~3h</a:t>
                      </a:r>
                    </a:p>
                  </a:txBody>
                  <a:tcPr anchor="ctr">
                    <a:solidFill>
                      <a:srgbClr val="F8F9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GA-HPO（两阶段优化）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13,182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58.6%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t>~7h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0" y="1005840"/>
          <a:ext cx="438912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566160"/>
            <a:ext cx="11064240" cy="18288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639312"/>
            <a:ext cx="107899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30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GA-HPO两阶段联合优化使Makespan降低11.3%（14,856→13,182秒）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GA架构搜索贡献5.9%，Optuna超参搜索贡献4.9%，两者存在协同效应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搜索开销~7h为一次性离线成本，最优超参数可在后续训练中持续复用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最优配置：lr=3×10⁻⁵, batch=32, γ=0.99, τ=0.005, ε_decay=0.998, PER α=0.6 β=0.4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11064240" cy="11887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5193792"/>
            <a:ext cx="10789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2852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训练增强机制效果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基础DDQN→+PER→+SJF预填充→+SJF偏置探索→+GA-HPO：收敛episode从280降至100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SJF预填充加速收敛46%（280→150 episodes），SJF偏置探索进一步至120 episodes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正式训练仅需~52分钟（30个epoch），满足实际工程应用需求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四、消融实验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05840"/>
          <a:ext cx="6858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005840"/>
            <a:ext cx="4114800" cy="50292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26680" y="1078992"/>
            <a:ext cx="384048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170432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消融实验结论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0876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影响最大三个组件：动作掩码(+13%)、GA-HPO(+12.7%)、交叉注意力(+10.5%)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动作掩码不仅是约束保证，更是性能关键支撑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交叉注意力是双流架构的核心——实现任务需求与资源能力的精准匹配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PER(+5%)和SJF预填充(+4%)主要贡献在训练效率和收敛速度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Graph Transformer(+3%)在复杂DAG工作流上贡献更显著(约+5.2%)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所有组件对整体性能均有正向贡献，验证了算法设计的合理性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四、实际工作流案例研究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303520" cy="292608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5029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案例1：保单登记股份增量正式报送调度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业务场景：向金融监管机构定期报送保单数据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工作流规模：49个任务，DAG深度15层，最大宽度8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原始Makespan：14,238秒（约3小时57分钟）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FE-IDDQN优化：13,845秒 → 改进2.76%（节省393秒）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传统启发式仅改进0.04%-0.06%（依赖约束限制并行空间）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34个省级子流程累积效应显著，依赖满足率100%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303520" cy="292608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078992"/>
            <a:ext cx="5029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案例2：EAST2-检核（反洗钱合规检核）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业务场景：保全、理赔等业务数据的合规性批处理检核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工作流规模：10个任务，DAG深度5层，单任务长耗时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原始Makespan：42,232秒（约11小时43分钟）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FE-IDDQN优化：35,780秒 → 改进15.28%（节省6,452秒）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FIFO反而恶化-3.11%（串行分配到单一节点）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SJF/EFT几乎无改进（0.01%），FE-IDDQN学会异构匹配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11064240" cy="201168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279392"/>
            <a:ext cx="107899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708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案例研究总结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监管报送（大规模复杂DAG）：FE-IDDQN通过Graph Transformer感知DAG结构，优先优化关键路径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反洗钱检核（少任务长耗时）：FE-IDDQN通过学习任务特征实现精准的任务-资源匹配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两个案例场景迥异，FE-IDDQN均取得最优结果 → 验证算法的通用性和实用性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● 100%依赖约束满足率 → 在金融监管合规场景中尤为关键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五、总结 — 主要贡献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303520" cy="22860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5029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贡献一：特征增强双流网络架构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任务流+资源流独立编码 → 交叉注意力融合 → Dueling输出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基于DolphinScheduler领域知识的16+7维特征体系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交叉注意力贡献+10.5%性能提升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05840"/>
            <a:ext cx="5303520" cy="22860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078992"/>
            <a:ext cx="5029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贡献二：SJF预填充+偏置探索训练加速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SJF启发式生成高质量种子经验 → 解决DRL冷启动问题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SJF偏置ε-贪心 → 提高探索效率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收敛速度提高46%（280→150 episodes）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303520" cy="22860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730752"/>
            <a:ext cx="5029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贡献三：GA两阶段超参数自动优化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GA架构搜索 + Optuna训练参数搜索 → 消除人工经验依赖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两阶段协同效应 → Makespan额外降低12.7%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重复可用的一次性离线优化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657600"/>
            <a:ext cx="5303520" cy="228600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730752"/>
            <a:ext cx="5029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8221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</a:defRPr>
            </a:pPr>
            <a:r>
              <a:t>贡献四：基于生产数据的端到端实验框架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60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首次使用金融行业DolphinScheduler生产数据（非合成数据）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历史重放仿真器 → 端到端训练与评估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监管报送和反洗钱检核真实案例验证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五、核心实验数据汇总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86C1"/>
                </a:solidFill>
              </a:defRPr>
            </a:pPr>
            <a:r>
              <a:t>43.7%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Makespan降低</a:t>
            </a:r>
          </a:p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(vs FIFO)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</a:defRPr>
            </a:pPr>
            <a:r>
              <a:t>9.4%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Makespan降低</a:t>
            </a:r>
          </a:p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(vs 最优启发式EFT)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097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E44AD"/>
                </a:solidFill>
              </a:defRPr>
            </a:pPr>
            <a:r>
              <a:t>5.7%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03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Makespan降低</a:t>
            </a:r>
          </a:p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(vs 同族DDQN)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39C12"/>
                </a:solidFill>
              </a:defRPr>
            </a:pPr>
            <a:r>
              <a:t>58.6%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资源利用率</a:t>
            </a:r>
          </a:p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(最高)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74C3C"/>
                </a:solidFill>
              </a:defRPr>
            </a:pPr>
            <a:r>
              <a:t>0.87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663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负载均衡指数</a:t>
            </a:r>
          </a:p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(最高)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3C6E"/>
                </a:solidFill>
              </a:defRPr>
            </a:pPr>
            <a:r>
              <a:t>~5ms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663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推理延迟</a:t>
            </a:r>
          </a:p>
          <a:p>
            <a:pPr algn="ctr">
              <a:spcAft>
                <a:spcPts val="420"/>
              </a:spcAft>
              <a:defRPr sz="1400" b="0">
                <a:solidFill>
                  <a:srgbClr val="2C3E50"/>
                </a:solidFill>
              </a:defRPr>
            </a:pPr>
            <a:r>
              <a:t>(满足在线要求)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</a:defRPr>
            </a:pPr>
            <a:r>
              <a:t>五、不足与展望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303520" cy="11887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5029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数据多样性与跨领域泛化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引入公开基准数据集和其他行业数据，验证算法泛化能力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05840"/>
            <a:ext cx="5303520" cy="11887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078992"/>
            <a:ext cx="5029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动态环境在线学习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研究在线增量学习策略，应对任务失败、资源故障等动态事件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5303520" cy="11887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496312"/>
            <a:ext cx="5029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87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大规模资源池扩展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层次化动作空间设计、多智能体RL，支持数十至数百节点集群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423160"/>
            <a:ext cx="5303520" cy="11887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496312"/>
            <a:ext cx="5029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587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多目标Pareto学习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926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从加权聚合到Pareto最优策略集，引入能耗、成本、QoS等目标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5303520" cy="11887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913632"/>
            <a:ext cx="50292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</a:defRPr>
            </a:pPr>
            <a:r>
              <a:t>超参数优化效率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引入ENAS/DARTS等权重共享NAS和元学习方法，提升1-2个数量级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840480"/>
            <a:ext cx="5303520" cy="11887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913632"/>
            <a:ext cx="5029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005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与DolphinScheduler深度集成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343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作为调度插件替代内置策略，解决模型在线更新和A/B测试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57800"/>
            <a:ext cx="11064240" cy="1188720"/>
          </a:xfrm>
          <a:prstGeom prst="roundRect">
            <a:avLst/>
          </a:prstGeom>
          <a:solidFill>
            <a:srgbClr val="F8F9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5330952"/>
            <a:ext cx="107899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223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可解释性增强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2C3E50"/>
                </a:solidFill>
              </a:defRPr>
            </a:pPr>
            <a:r>
              <a:t>注意力权重可视化、策略蒸馏与规则提取，提高透明度和可信度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谢谢各位老师！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400" b="0">
                <a:solidFill>
                  <a:srgbClr val="BBCCDD"/>
                </a:solidFill>
              </a:defRPr>
            </a:pPr>
            <a:r>
              <a:t>恳请各位老师批评指正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  <a:defRPr sz="1800" b="0">
                <a:solidFill>
                  <a:srgbClr val="AABBCC"/>
                </a:solidFill>
              </a:defRPr>
            </a:pPr>
            <a:r>
              <a:t>答辩人：XXX</a:t>
            </a:r>
          </a:p>
          <a:p>
            <a:pPr algn="ctr">
              <a:spcAft>
                <a:spcPts val="1080"/>
              </a:spcAft>
              <a:defRPr sz="1800" b="0">
                <a:solidFill>
                  <a:srgbClr val="AABBCC"/>
                </a:solidFill>
              </a:defRPr>
            </a:pPr>
            <a:r>
              <a:t>2026年X月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